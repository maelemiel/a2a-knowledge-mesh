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Inter"/>
              </a:defRPr>
            </a:pPr>
            <a:r>
              <a:t>BAND OF AGENTS ·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  <a:latin typeface="Inter"/>
              </a:defRPr>
            </a:pPr>
            <a:r>
              <a:t>A2A Knowledge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Inter"/>
              </a:defRPr>
            </a:pPr>
            <a:r>
              <a:t>Catch enterprise knowledge drift before it catches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6B6D4"/>
                </a:solidFill>
                <a:latin typeface="Inter"/>
              </a:defRPr>
            </a:pPr>
            <a:r>
              <a:t>Created by: Eliott Raguin &amp; Maël Perrigaud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20116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8FAFC"/>
                </a:solidFill>
                <a:latin typeface="Inter"/>
              </a:defRPr>
            </a:pPr>
            <a: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Inter"/>
              </a:defRPr>
            </a:pPr>
            <a:r>
              <a:t>Scraper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Inter"/>
              </a:defRPr>
            </a:pPr>
            <a:r>
              <a:t>Data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7791" y="3840480"/>
            <a:ext cx="20116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1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8FAFC"/>
                </a:solidFill>
                <a:latin typeface="Inter"/>
              </a:defRPr>
            </a:pPr>
            <a:r>
              <a:t>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1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Inter"/>
              </a:defRPr>
            </a:pPr>
            <a:r>
              <a:t>Keeper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1" y="4983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Inter"/>
              </a:defRPr>
            </a:pPr>
            <a:r>
              <a:t>Data Storage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3840480"/>
            <a:ext cx="20116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8FAFC"/>
                </a:solidFill>
                <a:latin typeface="Inter"/>
              </a:defRPr>
            </a:pPr>
            <a: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Inter"/>
              </a:defRPr>
            </a:pPr>
            <a:r>
              <a:t>Reconciler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4983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Inter"/>
              </a:defRPr>
            </a:pPr>
            <a:r>
              <a:t>Conflict Resolution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0336" y="3840480"/>
            <a:ext cx="20116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0336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8FAFC"/>
                </a:solidFill>
                <a:latin typeface="Inter"/>
              </a:defRPr>
            </a:pPr>
            <a:r>
              <a:t>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0336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Inter"/>
              </a:defRPr>
            </a:pPr>
            <a:r>
              <a:t>Registry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51776" y="4983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Inter"/>
              </a:defRPr>
            </a:pPr>
            <a:r>
              <a:t>Data Indexing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6608" y="3840480"/>
            <a:ext cx="2011680" cy="1828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8FAFC"/>
                </a:solidFill>
                <a:latin typeface="Inter"/>
              </a:defRPr>
            </a:pPr>
            <a: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8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Inter"/>
              </a:defRPr>
            </a:pPr>
            <a:r>
              <a:t>Bridge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4983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Inter"/>
              </a:defRPr>
            </a:pPr>
            <a:r>
              <a:t>System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Five specialized agents · One Band room · Real-time drift 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43F5E"/>
                </a:solidFill>
                <a:latin typeface="Inter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Enterprise Knowledge Drift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Inter"/>
              </a:defRPr>
            </a:pPr>
            <a:r>
              <a:t>Docs say one thing. Code says another. CI lives in its own world. Nobody notices until it breaks.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3832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3F5E"/>
                </a:solidFill>
                <a:latin typeface="Inter"/>
              </a:defRPr>
            </a:pPr>
            <a:r>
              <a:t>README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71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Inter"/>
              </a:defRPr>
            </a:pPr>
            <a:r>
              <a:t>Python 3.9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Inter"/>
              </a:defRPr>
            </a:pPr>
            <a:r>
              <a:t>pip install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560320"/>
            <a:ext cx="33832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Inter"/>
              </a:defRPr>
            </a:pPr>
            <a:r>
              <a:t>pyproject.toml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71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Inter"/>
              </a:defRPr>
            </a:pPr>
            <a:r>
              <a:t>Python &gt;=3.11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2918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Inter"/>
              </a:defRPr>
            </a:pPr>
            <a:r>
              <a:t>uv install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560320"/>
            <a:ext cx="33832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Inter"/>
              </a:defRPr>
            </a:pPr>
            <a:r>
              <a:t>CI config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971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Inter"/>
              </a:defRPr>
            </a:pPr>
            <a:r>
              <a:t>Python 3.12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31920"/>
            <a:ext cx="33832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41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Inter"/>
              </a:defRPr>
            </a:pPr>
            <a:r>
              <a:t>Dockerfile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43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Inter"/>
              </a:defRPr>
            </a:pPr>
            <a:r>
              <a:t>Python 3.10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931920"/>
            <a:ext cx="33832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041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3F5E"/>
                </a:solidFill>
                <a:latin typeface="Inter"/>
              </a:defRPr>
            </a:pPr>
            <a:r>
              <a:t>Architecture 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43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Inter"/>
              </a:defRPr>
            </a:pPr>
            <a:r>
              <a:t>Firebase auth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931920"/>
            <a:ext cx="3383280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0416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43F5E"/>
                </a:solidFill>
                <a:latin typeface="Inter"/>
              </a:defRPr>
            </a:pPr>
            <a:r>
              <a:t>Code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343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8FAFC"/>
                </a:solidFill>
                <a:latin typeface="Inter"/>
              </a:defRPr>
            </a:pPr>
            <a:r>
              <a:t>Supabase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Inter"/>
              </a:defRPr>
            </a:pPr>
            <a:r>
              <a:t>⚠ Same project. Six contradicting sources. Which one is the actual ground truth?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Inter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Five Agents, One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Inter"/>
              </a:defRPr>
            </a:pPr>
            <a:r>
              <a:t>Band-native multi-agent platform that detects, scores, and resolves knowledge drift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6334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Inter"/>
              </a:defRPr>
            </a:pPr>
            <a:r>
              <a:t>🔍 Scraper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63347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Reads repos, extracts structured facts via 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69848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4564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Inter"/>
              </a:defRPr>
            </a:pPr>
            <a:r>
              <a:t>💾 Keeper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45643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SQLite fact store with O(n log n) conflict detection via JOIN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1069848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2793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Inter"/>
              </a:defRPr>
            </a:pPr>
            <a:r>
              <a:t>⚖️ Reconciler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27939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LLM-powered conflict scoring + interactive resolution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1069848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023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Inter"/>
              </a:defRPr>
            </a:pPr>
            <a:r>
              <a:t>📋 Registry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510235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Dynamic service discovery for mesh agents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760720"/>
            <a:ext cx="1069848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92531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3F5E"/>
                </a:solidFill>
                <a:latin typeface="Inter"/>
              </a:defRPr>
            </a:pPr>
            <a:r>
              <a:t>📊 Bridge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2531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Real-time dashboard with modern glassmorphism UI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Inter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8FAFC"/>
                </a:solidFill>
                <a:latin typeface="Inter"/>
              </a:defRPr>
            </a:pPr>
            <a:r>
              <a:t>Collaborative Multi-Agent Flow</a:t>
            </a:r>
          </a:p>
        </p:txBody>
      </p:sp>
      <p:pic>
        <p:nvPicPr>
          <p:cNvPr id="5" name="Picture 4" descr="five_agents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731520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645920"/>
            <a:ext cx="31089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6B6D4"/>
                </a:solidFill>
                <a:latin typeface="Inter"/>
              </a:defRPr>
            </a:pPr>
            <a:r>
              <a:t>Key Infrastructure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86000"/>
            <a:ext cx="2743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Band Room Transport: agents communicate using @mentions and WebSockets.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Decentralized DB: each agent maintains its own SQLite database.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A2A Protocol: standard JSON-RPC 2.0 endpoints for local agent requests.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Provenance Tracked: facts are RDF-lite triples containing subject, predicate, object, source_id, and timestamp.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Inter"/>
              </a:defRPr>
            </a:pPr>
            <a:r>
              <a:t>Secure bearer authentication + HMAC payload signatures protect all inter-agent operations.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9E0B"/>
                </a:solidFill>
                <a:latin typeface="Inter"/>
              </a:defRPr>
            </a:pPr>
            <a: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Watch It In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7498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975104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  <a:defRPr sz="1600" b="1">
                <a:solidFill>
                  <a:srgbClr val="F8FAFC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Inter"/>
              </a:defRPr>
            </a:pPr>
            <a:r>
              <a:t>Scraper scans repo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3113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8 facts extracted from docs-repo + code-repo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698480" cy="7498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843784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  <a:defRPr sz="1600" b="1">
                <a:solidFill>
                  <a:srgbClr val="F8FAFC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Inter"/>
              </a:defRPr>
            </a:pPr>
            <a:r>
              <a:t>Keeper detects conflicts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9981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3 contradictions found (framework, version, database)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60"/>
            <a:ext cx="10698480" cy="7498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712464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  <a:defRPr sz="1600" b="1">
                <a:solidFill>
                  <a:srgbClr val="F8FAFC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Inter"/>
              </a:defRPr>
            </a:pPr>
            <a:r>
              <a:t>Reconciler scores severity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96849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critical · high · medium — with LLM confidence ratings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34840"/>
            <a:ext cx="10698480" cy="7498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4581144"/>
            <a:ext cx="457200" cy="4572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  <a:defRPr sz="1600" b="1">
                <a:solidFill>
                  <a:srgbClr val="F8FAFC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43F5E"/>
                </a:solidFill>
                <a:latin typeface="Inter"/>
              </a:defRPr>
            </a:pPr>
            <a:r>
              <a:t>Human reviews &amp; resolves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3717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Interactive loop via @mentions in Band room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698480" cy="74980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5449824"/>
            <a:ext cx="457200" cy="457200"/>
          </a:xfrm>
          <a:prstGeom prst="ellips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200"/>
              </a:spcBef>
              <a:defRPr sz="1600" b="1">
                <a:solidFill>
                  <a:srgbClr val="F8FAFC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8FAFC"/>
                </a:solidFill>
                <a:latin typeface="Inter"/>
              </a:defRPr>
            </a:pPr>
            <a:r>
              <a:t>Dashboard updates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70585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Timeline, counters, and mesh graph reflect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Inter"/>
              </a:defRPr>
            </a:pPr>
            <a:r>
              <a:t>Run: bash scripts/run_mesh.sh  ·  Offline mode: uv run python scripts/quick_demo.py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Inter"/>
              </a:defRPr>
            </a:pPr>
            <a: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Knowledge Mesh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6B6D4"/>
                </a:solidFill>
                <a:latin typeface="Inter"/>
              </a:defRPr>
            </a:pPr>
            <a:r>
              <a:t>🔵 Subject node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5603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0B981"/>
                </a:solidFill>
                <a:latin typeface="Inter"/>
              </a:defRPr>
            </a:pPr>
            <a:r>
              <a:t>🟢 Valid 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2560320" cy="457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43F5E"/>
                </a:solidFill>
                <a:latin typeface="Inter"/>
              </a:defRPr>
            </a:pPr>
            <a:r>
              <a:t>🔴 Active conflict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• mesh graphify generates an interactive Vis.js network graph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• Click any node to inspect: versions, timestamps, source files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• Subjects (blue) connect to facts (green) — conflicts (red) are visually scannable</a:t>
            </a:r>
          </a:p>
          <a:p>
            <a:pPr>
              <a:spcAft>
                <a:spcPts val="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• Zoom, pan, filter — built for human-in-the-loop debugging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4663440"/>
            <a:ext cx="2011680" cy="685800"/>
          </a:xfrm>
          <a:prstGeom prst="ellipse">
            <a:avLst/>
          </a:prstGeom>
          <a:solidFill>
            <a:srgbClr val="1E293B"/>
          </a:solidFill>
          <a:ln w="381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defRPr sz="1200" b="1">
                <a:solidFill>
                  <a:srgbClr val="F8FAFC"/>
                </a:solidFill>
                <a:latin typeface="Inter"/>
              </a:defRPr>
            </a:pPr>
            <a:r>
              <a:t>project-ALLY</a:t>
            </a:r>
          </a:p>
        </p:txBody>
      </p:sp>
      <p:sp>
        <p:nvSpPr>
          <p:cNvPr id="13" name="Oval 12"/>
          <p:cNvSpPr/>
          <p:nvPr/>
        </p:nvSpPr>
        <p:spPr>
          <a:xfrm>
            <a:off x="3017520" y="4297680"/>
            <a:ext cx="2011680" cy="685800"/>
          </a:xfrm>
          <a:prstGeom prst="ellipse">
            <a:avLst/>
          </a:prstGeom>
          <a:solidFill>
            <a:srgbClr val="1E293B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defRPr sz="1200" b="1">
                <a:solidFill>
                  <a:srgbClr val="F8FAFC"/>
                </a:solidFill>
                <a:latin typeface="Inter"/>
              </a:defRPr>
            </a:pPr>
            <a:r>
              <a:t>framework=Next.js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5212080"/>
            <a:ext cx="2011680" cy="685800"/>
          </a:xfrm>
          <a:prstGeom prst="ellipse">
            <a:avLst/>
          </a:prstGeom>
          <a:solidFill>
            <a:srgbClr val="1E293B"/>
          </a:solidFill>
          <a:ln w="381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defRPr sz="1200" b="1">
                <a:solidFill>
                  <a:srgbClr val="F8FAFC"/>
                </a:solidFill>
                <a:latin typeface="Inter"/>
              </a:defRPr>
            </a:pPr>
            <a:r>
              <a:t>framework=React</a:t>
            </a:r>
          </a:p>
        </p:txBody>
      </p:sp>
      <p:sp>
        <p:nvSpPr>
          <p:cNvPr id="15" name="Oval 14"/>
          <p:cNvSpPr/>
          <p:nvPr/>
        </p:nvSpPr>
        <p:spPr>
          <a:xfrm>
            <a:off x="5212080" y="4663440"/>
            <a:ext cx="2011680" cy="685800"/>
          </a:xfrm>
          <a:prstGeom prst="ellipse">
            <a:avLst/>
          </a:prstGeom>
          <a:solidFill>
            <a:srgbClr val="1E293B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defRPr sz="1200" b="1">
                <a:solidFill>
                  <a:srgbClr val="F8FAFC"/>
                </a:solidFill>
                <a:latin typeface="Inter"/>
              </a:defRPr>
            </a:pPr>
            <a:r>
              <a:t>language=TypeScript</a:t>
            </a:r>
          </a:p>
        </p:txBody>
      </p:sp>
      <p:sp>
        <p:nvSpPr>
          <p:cNvPr id="16" name="Oval 15"/>
          <p:cNvSpPr/>
          <p:nvPr/>
        </p:nvSpPr>
        <p:spPr>
          <a:xfrm>
            <a:off x="7223760" y="4297680"/>
            <a:ext cx="2011680" cy="685800"/>
          </a:xfrm>
          <a:prstGeom prst="ellipse">
            <a:avLst/>
          </a:prstGeom>
          <a:solidFill>
            <a:srgbClr val="1E293B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defRPr sz="1200" b="1">
                <a:solidFill>
                  <a:srgbClr val="F8FAFC"/>
                </a:solidFill>
                <a:latin typeface="Inter"/>
              </a:defRPr>
            </a:pPr>
            <a:r>
              <a:t>version=18.2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0" y="5212080"/>
            <a:ext cx="2011680" cy="685800"/>
          </a:xfrm>
          <a:prstGeom prst="ellipse">
            <a:avLst/>
          </a:prstGeom>
          <a:solidFill>
            <a:srgbClr val="1E293B"/>
          </a:solidFill>
          <a:ln w="381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800"/>
              </a:spcBef>
              <a:defRPr sz="1200" b="1">
                <a:solidFill>
                  <a:srgbClr val="F8FAFC"/>
                </a:solidFill>
                <a:latin typeface="Inter"/>
              </a:defRPr>
            </a:pPr>
            <a:r>
              <a:t>version=16.8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6B6D4"/>
                </a:solidFill>
                <a:latin typeface="Inter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Technology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120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Inter"/>
              </a:defRPr>
            </a:pPr>
            <a:r>
              <a:t>Runtime &amp; Storage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  <a:latin typeface="Inter"/>
              </a:defRPr>
            </a:pPr>
            <a:r>
              <a:t>Python 3.11+ · Starlette + Uvicorn · SQLite WAL mode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848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Inter"/>
              </a:defRPr>
            </a:pPr>
            <a:r>
              <a:t>Agent Coordination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  <a:latin typeface="Inter"/>
              </a:defRPr>
            </a:pPr>
            <a:r>
              <a:t>Band SDK (WebSocket) · A2A Protocol (JSON-RPC 2.0)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37560"/>
            <a:ext cx="52120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5021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Inter"/>
              </a:defRPr>
            </a:pPr>
            <a:r>
              <a:t>LLM 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  <a:latin typeface="Inter"/>
              </a:defRPr>
            </a:pPr>
            <a:r>
              <a:t>Featherless / OpenAI API · Resilience: 2x retries +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37560"/>
            <a:ext cx="52120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50215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Inter"/>
              </a:defRPr>
            </a:pPr>
            <a:r>
              <a:t>Security &amp; Auth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4048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  <a:latin typeface="Inter"/>
              </a:defRPr>
            </a:pPr>
            <a:r>
              <a:t>HMAC body signing · Per-role bearer tokens · master fallback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754880"/>
            <a:ext cx="52120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91947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Inter"/>
              </a:defRPr>
            </a:pPr>
            <a:r>
              <a:t>Developer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5780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  <a:latin typeface="Inter"/>
              </a:defRPr>
            </a:pPr>
            <a:r>
              <a:t>Glassmorphic dashboard UI · Interactive Vis.js network graph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212080" cy="1188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91947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Inter"/>
              </a:defRPr>
            </a:pPr>
            <a:r>
              <a:t>Testing &amp; Fixtures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57800"/>
            <a:ext cx="4663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8FAFC"/>
                </a:solidFill>
                <a:latin typeface="Inter"/>
              </a:defRPr>
            </a:pPr>
            <a:r>
              <a:t>std unittest · Offline fixtures covering 4 drift scenarios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Inter"/>
              </a:defRPr>
            </a:pPr>
            <a:r>
              <a:t>WHY 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Why Band of Agents?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8FAFC"/>
                </a:solidFill>
                <a:latin typeface="Inter"/>
              </a:defRPr>
            </a:pPr>
            <a:r>
              <a:t>• Shared room collaboration: 5 agents communicate seamlessly in one room.</a:t>
            </a:r>
          </a:p>
          <a:p>
            <a:pPr>
              <a:spcAft>
                <a:spcPts val="600"/>
              </a:spcAft>
              <a:defRPr sz="1600">
                <a:solidFill>
                  <a:srgbClr val="F8FAFC"/>
                </a:solidFill>
                <a:latin typeface="Inter"/>
              </a:defRPr>
            </a:pPr>
            <a:r>
              <a:t>• Structured context hand-off: @mentions transfer structured fact payloads.</a:t>
            </a:r>
          </a:p>
          <a:p>
            <a:pPr>
              <a:spcAft>
                <a:spcPts val="600"/>
              </a:spcAft>
              <a:defRPr sz="1600">
                <a:solidFill>
                  <a:srgbClr val="F8FAFC"/>
                </a:solidFill>
                <a:latin typeface="Inter"/>
              </a:defRPr>
            </a:pPr>
            <a:r>
              <a:t>• Real-time events: WebSockets keep system dashboard synchronized without polling.</a:t>
            </a:r>
          </a:p>
          <a:p>
            <a:pPr>
              <a:spcAft>
                <a:spcPts val="600"/>
              </a:spcAft>
              <a:defRPr sz="1600">
                <a:solidFill>
                  <a:srgbClr val="F8FAFC"/>
                </a:solidFill>
                <a:latin typeface="Inter"/>
              </a:defRPr>
            </a:pPr>
            <a:r>
              <a:t>• Human-in-the-loop: Reconciler offers AI recommendations, human stays in control.</a:t>
            </a:r>
          </a:p>
          <a:p>
            <a:pPr>
              <a:spcAft>
                <a:spcPts val="600"/>
              </a:spcAft>
              <a:defRPr sz="1600">
                <a:solidFill>
                  <a:srgbClr val="F8FAFC"/>
                </a:solidFill>
                <a:latin typeface="Inter"/>
              </a:defRPr>
            </a:pPr>
            <a:r>
              <a:t>• Open standard ready: standard LVK/WebSocket and local A2A fallback options.</a:t>
            </a:r>
          </a:p>
          <a:p>
            <a:pPr>
              <a:spcAft>
                <a:spcPts val="600"/>
              </a:spcAft>
              <a:defRPr sz="1600">
                <a:solidFill>
                  <a:srgbClr val="F8FAFC"/>
                </a:solidFill>
                <a:latin typeface="Inter"/>
              </a:defRPr>
            </a:pPr>
            <a:r>
              <a:t>• Single-command launch: one unified script starts all agents and database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Inter"/>
              </a:defRPr>
            </a:pPr>
            <a: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Inter"/>
              </a:defRPr>
            </a:pPr>
            <a:r>
              <a:t>Market Scope &amp; Value Proposition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Inter"/>
              </a:defRPr>
            </a:pPr>
            <a:r>
              <a:t>Market Size &amp;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Inter"/>
              </a:defRPr>
            </a:pPr>
            <a:r>
              <a:t>• TAM: $12B+ Enterprise Knowledge Management Market.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Inter"/>
              </a:defRPr>
            </a:pPr>
            <a:r>
              <a:t>• SAM: $1.2B DevOps &amp; CI/CD Integrity Assurance sector.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Inter"/>
              </a:defRPr>
            </a:pPr>
            <a:r>
              <a:t>• Revenue Stream 1: SaaS subscriptions per repository &amp; active user.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Inter"/>
              </a:defRPr>
            </a:pPr>
            <a:r>
              <a:t>• Revenue Stream 2: Self-hosted enterprise licenses for high security compliance.</a:t>
            </a:r>
          </a:p>
          <a:p>
            <a:pPr>
              <a:spcAft>
                <a:spcPts val="600"/>
              </a:spcAft>
              <a:defRPr sz="1200">
                <a:solidFill>
                  <a:srgbClr val="F8FAFC"/>
                </a:solidFill>
                <a:latin typeface="Inter"/>
              </a:defRPr>
            </a:pPr>
            <a:r>
              <a:t>• High Growth: Drift detection is critical for companies utilizing AI and automated pipelines.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Inter"/>
              </a:defRPr>
            </a:pPr>
            <a:r>
              <a:t>Unique Selling Proposition (USP)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56032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Active Reconciliation: Unlike passive sync tools (e.g. Memory Store, YC P26) which copy raw chat logs, we check all files and detect actual code vs doc contradictions.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Conflict Scoring: Automatically scores drift severity using local LLM algorithms.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Human-in-the-loop: Allows easy resolution through Band room commands, keeping developers in control.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Inter"/>
              </a:defRPr>
            </a:pPr>
            <a:r>
              <a:t>• Full Provenance: Tracks source_id, timestamp, and version for every fact and conflict resolved.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88952" cy="508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8FAFC"/>
                </a:solidFill>
                <a:latin typeface="Inter"/>
              </a:defRPr>
            </a:pPr>
            <a:r>
              <a:t>A2A Knowledge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Inter"/>
              </a:defRPr>
            </a:pPr>
            <a:r>
              <a:t>github.com/maelemiel/a2a-knowledge-mesh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FAFC"/>
                </a:solidFill>
                <a:latin typeface="Inter"/>
              </a:defRPr>
            </a:pPr>
            <a:r>
              <a:t>Created by: Eliott Raguin &amp; Maël Perrigaud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Inter"/>
              </a:defRPr>
            </a:pPr>
            <a:r>
              <a:t>Built for Band of Agents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